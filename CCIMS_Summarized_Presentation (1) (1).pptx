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sldIdLst>
    <p:sldId id="256" r:id="rId2"/>
    <p:sldId id="258" r:id="rId3"/>
    <p:sldId id="259" r:id="rId4"/>
    <p:sldId id="291" r:id="rId5"/>
    <p:sldId id="292" r:id="rId6"/>
    <p:sldId id="262" r:id="rId7"/>
    <p:sldId id="260" r:id="rId8"/>
    <p:sldId id="261" r:id="rId9"/>
    <p:sldId id="263" r:id="rId10"/>
    <p:sldId id="264" r:id="rId11"/>
    <p:sldId id="265" r:id="rId12"/>
    <p:sldId id="266" r:id="rId13"/>
    <p:sldId id="267" r:id="rId14"/>
    <p:sldId id="271" r:id="rId15"/>
    <p:sldId id="272" r:id="rId16"/>
    <p:sldId id="273" r:id="rId17"/>
    <p:sldId id="268" r:id="rId18"/>
    <p:sldId id="274" r:id="rId19"/>
    <p:sldId id="281" r:id="rId20"/>
    <p:sldId id="287" r:id="rId21"/>
    <p:sldId id="276" r:id="rId22"/>
    <p:sldId id="285" r:id="rId23"/>
    <p:sldId id="278" r:id="rId24"/>
    <p:sldId id="277" r:id="rId25"/>
    <p:sldId id="286" r:id="rId26"/>
    <p:sldId id="284" r:id="rId27"/>
    <p:sldId id="288" r:id="rId28"/>
    <p:sldId id="279" r:id="rId29"/>
    <p:sldId id="280" r:id="rId30"/>
    <p:sldId id="283" r:id="rId31"/>
    <p:sldId id="269" r:id="rId32"/>
    <p:sldId id="270" r:id="rId3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82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8539" y="2514601"/>
            <a:ext cx="8913077" cy="2262781"/>
          </a:xfrm>
        </p:spPr>
        <p:txBody>
          <a:bodyPr anchor="b">
            <a:normAutofit/>
          </a:bodyPr>
          <a:lstStyle>
            <a:lvl1pPr>
              <a:defRPr sz="5398"/>
            </a:lvl1pPr>
          </a:lstStyle>
          <a:p>
            <a:r>
              <a:rPr lang="en-US"/>
              <a:t>Click to edit Master title style</a:t>
            </a:r>
            <a:endParaRPr lang="en-US" dirty="0"/>
          </a:p>
        </p:txBody>
      </p:sp>
      <p:sp>
        <p:nvSpPr>
          <p:cNvPr id="3" name="Subtitle 2"/>
          <p:cNvSpPr>
            <a:spLocks noGrp="1"/>
          </p:cNvSpPr>
          <p:nvPr>
            <p:ph type="subTitle" idx="1"/>
          </p:nvPr>
        </p:nvSpPr>
        <p:spPr>
          <a:xfrm>
            <a:off x="2588539" y="4777380"/>
            <a:ext cx="8913077" cy="1126283"/>
          </a:xfrm>
        </p:spPr>
        <p:txBody>
          <a:bodyPr anchor="t"/>
          <a:lstStyle>
            <a:lvl1pPr marL="0" indent="0" algn="l">
              <a:buNone/>
              <a:defRPr>
                <a:solidFill>
                  <a:schemeClr val="tx1">
                    <a:lumMod val="65000"/>
                    <a:lumOff val="35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1"/>
            <a:ext cx="1744198"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674" y="4529541"/>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7499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250" y="624110"/>
            <a:ext cx="8909366"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8538" y="2133600"/>
            <a:ext cx="8913078"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2650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8538" y="2058750"/>
            <a:ext cx="8913077" cy="1468800"/>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2588538" y="3530129"/>
            <a:ext cx="8913077" cy="860400"/>
          </a:xfrm>
        </p:spPr>
        <p:txBody>
          <a:bodyPr anchor="t"/>
          <a:lstStyle>
            <a:lvl1pPr marL="0" indent="0" algn="l">
              <a:buNone/>
              <a:defRPr sz="19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7" y="31781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674" y="3244140"/>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3095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8538" y="2133600"/>
            <a:ext cx="4312741"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88874" y="2126222"/>
            <a:ext cx="4312741"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29-Apr-26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674" y="787783"/>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7272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8608" y="1972703"/>
            <a:ext cx="3991692"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2588538" y="2548966"/>
            <a:ext cx="4341762"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4674" y="1969475"/>
            <a:ext cx="3997960"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5091" y="2545738"/>
            <a:ext cx="433754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29-Apr-26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674" y="787783"/>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8385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29-Apr-26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5427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29-Apr-26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010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8538" y="446088"/>
            <a:ext cx="3504286" cy="976312"/>
          </a:xfrm>
        </p:spPr>
        <p:txBody>
          <a:bodyPr anchor="b"/>
          <a:lstStyle>
            <a:lvl1pPr algn="l">
              <a:defRPr sz="1999" b="0"/>
            </a:lvl1pPr>
          </a:lstStyle>
          <a:p>
            <a:r>
              <a:rPr lang="en-US"/>
              <a:t>Click to edit Master title style</a:t>
            </a:r>
            <a:endParaRPr lang="en-US" dirty="0"/>
          </a:p>
        </p:txBody>
      </p:sp>
      <p:sp>
        <p:nvSpPr>
          <p:cNvPr id="3" name="Content Placeholder 2"/>
          <p:cNvSpPr>
            <a:spLocks noGrp="1"/>
          </p:cNvSpPr>
          <p:nvPr>
            <p:ph idx="1"/>
          </p:nvPr>
        </p:nvSpPr>
        <p:spPr>
          <a:xfrm>
            <a:off x="6321365" y="446089"/>
            <a:ext cx="518025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8538" y="1598613"/>
            <a:ext cx="3504286" cy="4262436"/>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29-Apr-26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414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8539" y="4800600"/>
            <a:ext cx="8913078"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8538" y="634965"/>
            <a:ext cx="8913078" cy="3854970"/>
          </a:xfrm>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8539" y="5367338"/>
            <a:ext cx="8913078" cy="493712"/>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29-Apr-26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0670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8538" y="609600"/>
            <a:ext cx="8913077" cy="3117040"/>
          </a:xfrm>
        </p:spPr>
        <p:txBody>
          <a:bodyPr anchor="ctr">
            <a:normAutofit/>
          </a:bodyPr>
          <a:lstStyle>
            <a:lvl1pPr algn="l">
              <a:defRPr sz="4799" b="0" cap="none"/>
            </a:lvl1pPr>
          </a:lstStyle>
          <a:p>
            <a:r>
              <a:rPr lang="en-US"/>
              <a:t>Click to edit Master title style</a:t>
            </a:r>
            <a:endParaRPr lang="en-US" dirty="0"/>
          </a:p>
        </p:txBody>
      </p:sp>
      <p:sp>
        <p:nvSpPr>
          <p:cNvPr id="3" name="Text Placeholder 2"/>
          <p:cNvSpPr>
            <a:spLocks noGrp="1"/>
          </p:cNvSpPr>
          <p:nvPr>
            <p:ph type="body" idx="1"/>
          </p:nvPr>
        </p:nvSpPr>
        <p:spPr>
          <a:xfrm>
            <a:off x="2588538" y="4354046"/>
            <a:ext cx="8913077" cy="1555864"/>
          </a:xfrm>
        </p:spPr>
        <p:txBody>
          <a:bodyPr anchor="ctr">
            <a:normAutofit/>
          </a:bodyPr>
          <a:lstStyle>
            <a:lvl1pPr marL="0" indent="0" algn="l">
              <a:buNone/>
              <a:defRPr sz="17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7" y="31781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674" y="3244140"/>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759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207" y="609600"/>
            <a:ext cx="8391740" cy="2895600"/>
          </a:xfrm>
        </p:spPr>
        <p:txBody>
          <a:bodyPr anchor="ctr">
            <a:normAutofit/>
          </a:bodyPr>
          <a:lstStyle>
            <a:lvl1pPr algn="l">
              <a:defRPr sz="4799"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4159" y="3505200"/>
            <a:ext cx="7534591" cy="381000"/>
          </a:xfrm>
        </p:spPr>
        <p:txBody>
          <a:bodyPr anchor="ctr">
            <a:noAutofit/>
          </a:bodyPr>
          <a:lstStyle>
            <a:lvl1pPr marL="0" indent="0">
              <a:buFontTx/>
              <a:buNone/>
              <a:defRPr sz="1600">
                <a:solidFill>
                  <a:schemeClr val="tx1">
                    <a:lumMod val="50000"/>
                    <a:lumOff val="50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2588538" y="4354046"/>
            <a:ext cx="8913077" cy="1555864"/>
          </a:xfrm>
        </p:spPr>
        <p:txBody>
          <a:bodyPr anchor="ctr">
            <a:normAutofit/>
          </a:bodyPr>
          <a:lstStyle>
            <a:lvl1pPr marL="0" indent="0" algn="l">
              <a:buNone/>
              <a:defRPr sz="17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7" y="31781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674" y="3244140"/>
            <a:ext cx="779564" cy="365125"/>
          </a:xfrm>
        </p:spPr>
        <p:txBody>
          <a:bodyPr/>
          <a:lstStyle/>
          <a:p>
            <a:fld id="{C1FF6DA9-008F-8B48-92A6-B652298478BF}" type="slidenum">
              <a:rPr lang="en-US" smtClean="0"/>
              <a:t>‹#›</a:t>
            </a:fld>
            <a:endParaRPr lang="en-US"/>
          </a:p>
        </p:txBody>
      </p:sp>
      <p:sp>
        <p:nvSpPr>
          <p:cNvPr id="14" name="TextBox 13"/>
          <p:cNvSpPr txBox="1"/>
          <p:nvPr/>
        </p:nvSpPr>
        <p:spPr>
          <a:xfrm>
            <a:off x="2467010" y="648005"/>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
        <p:nvSpPr>
          <p:cNvPr id="15" name="TextBox 14"/>
          <p:cNvSpPr txBox="1"/>
          <p:nvPr/>
        </p:nvSpPr>
        <p:spPr>
          <a:xfrm>
            <a:off x="11111958" y="290530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56950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8539" y="2438401"/>
            <a:ext cx="8913078" cy="2724845"/>
          </a:xfrm>
        </p:spPr>
        <p:txBody>
          <a:bodyPr anchor="b">
            <a:normAutofit/>
          </a:bodyPr>
          <a:lstStyle>
            <a:lvl1pPr algn="l">
              <a:defRPr sz="4799" b="0"/>
            </a:lvl1pPr>
          </a:lstStyle>
          <a:p>
            <a:r>
              <a:rPr lang="en-US"/>
              <a:t>Click to edit Master title style</a:t>
            </a:r>
            <a:endParaRPr lang="en-US" dirty="0"/>
          </a:p>
        </p:txBody>
      </p:sp>
      <p:sp>
        <p:nvSpPr>
          <p:cNvPr id="4" name="Text Placeholder 3"/>
          <p:cNvSpPr>
            <a:spLocks noGrp="1"/>
          </p:cNvSpPr>
          <p:nvPr>
            <p:ph type="body" sz="half" idx="2"/>
          </p:nvPr>
        </p:nvSpPr>
        <p:spPr>
          <a:xfrm>
            <a:off x="2588539" y="5181600"/>
            <a:ext cx="8913078"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29-Apr-26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9917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207" y="609600"/>
            <a:ext cx="8391740" cy="2895600"/>
          </a:xfrm>
        </p:spPr>
        <p:txBody>
          <a:bodyPr anchor="ctr">
            <a:normAutofit/>
          </a:bodyPr>
          <a:lstStyle>
            <a:lvl1pPr algn="l">
              <a:defRPr sz="4799"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8538" y="4343400"/>
            <a:ext cx="8913078" cy="838200"/>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8539" y="5181600"/>
            <a:ext cx="8913078"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29-Apr-26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
        <p:nvSpPr>
          <p:cNvPr id="17" name="TextBox 16"/>
          <p:cNvSpPr txBox="1"/>
          <p:nvPr/>
        </p:nvSpPr>
        <p:spPr>
          <a:xfrm>
            <a:off x="2467010" y="648005"/>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
        <p:nvSpPr>
          <p:cNvPr id="18" name="TextBox 17"/>
          <p:cNvSpPr txBox="1"/>
          <p:nvPr/>
        </p:nvSpPr>
        <p:spPr>
          <a:xfrm>
            <a:off x="11111958" y="290530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8609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8538" y="627407"/>
            <a:ext cx="8913077" cy="2880020"/>
          </a:xfrm>
        </p:spPr>
        <p:txBody>
          <a:bodyPr anchor="ctr">
            <a:normAutofit/>
          </a:bodyPr>
          <a:lstStyle>
            <a:lvl1pPr algn="l">
              <a:defRPr sz="4799" b="0"/>
            </a:lvl1pPr>
          </a:lstStyle>
          <a:p>
            <a:r>
              <a:rPr lang="en-US"/>
              <a:t>Click to edit Master title style</a:t>
            </a:r>
            <a:endParaRPr lang="en-US" dirty="0"/>
          </a:p>
        </p:txBody>
      </p:sp>
      <p:sp>
        <p:nvSpPr>
          <p:cNvPr id="21" name="Text Placeholder 9"/>
          <p:cNvSpPr>
            <a:spLocks noGrp="1"/>
          </p:cNvSpPr>
          <p:nvPr>
            <p:ph type="body" sz="quarter" idx="13"/>
          </p:nvPr>
        </p:nvSpPr>
        <p:spPr>
          <a:xfrm>
            <a:off x="2588538" y="4343400"/>
            <a:ext cx="8913078" cy="838200"/>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8539" y="5181600"/>
            <a:ext cx="8913078"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29-Apr-26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7" y="491172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674" y="4983088"/>
            <a:ext cx="77956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5648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4990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2392" y="627406"/>
            <a:ext cx="220702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8538" y="627406"/>
            <a:ext cx="6475313"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29-Apr-26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7" y="714376"/>
            <a:ext cx="1588113"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10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0773"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14" y="-786"/>
            <a:ext cx="2356060"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3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249" y="624110"/>
            <a:ext cx="8909366"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8538" y="2133600"/>
            <a:ext cx="8913078"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58914" y="6130437"/>
            <a:ext cx="1145984"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29-Apr-26</a:t>
            </a:fld>
            <a:endParaRPr lang="en-US"/>
          </a:p>
        </p:txBody>
      </p:sp>
      <p:sp>
        <p:nvSpPr>
          <p:cNvPr id="5" name="Footer Placeholder 4"/>
          <p:cNvSpPr>
            <a:spLocks noGrp="1"/>
          </p:cNvSpPr>
          <p:nvPr>
            <p:ph type="ftr" sz="quarter" idx="3"/>
          </p:nvPr>
        </p:nvSpPr>
        <p:spPr>
          <a:xfrm>
            <a:off x="2588538" y="6135809"/>
            <a:ext cx="7618015"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674" y="787783"/>
            <a:ext cx="779564" cy="365125"/>
          </a:xfrm>
          <a:prstGeom prst="rect">
            <a:avLst/>
          </a:prstGeom>
        </p:spPr>
        <p:txBody>
          <a:bodyPr vert="horz" lIns="91440" tIns="45720" rIns="91440" bIns="45720" rtlCol="0" anchor="ctr"/>
          <a:lstStyle>
            <a:lvl1pPr algn="r">
              <a:defRPr sz="1999">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3439247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063" rtl="0" eaLnBrk="1" latinLnBrk="0" hangingPunct="1">
        <a:spcBef>
          <a:spcPct val="0"/>
        </a:spcBef>
        <a:buNone/>
        <a:defRPr sz="3599"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accent1"/>
        </a:buClr>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nodejs.org/en/docs"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7.xml"/><Relationship Id="rId5" Type="http://schemas.openxmlformats.org/officeDocument/2006/relationships/hyperlink" Target="https://react.dev/learn" TargetMode="External"/><Relationship Id="rId4" Type="http://schemas.openxmlformats.org/officeDocument/2006/relationships/hyperlink" Target="https://expressjs.com/en/guid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8418" y="1581935"/>
            <a:ext cx="10071988" cy="646331"/>
          </a:xfrm>
          <a:prstGeom prst="rect">
            <a:avLst/>
          </a:prstGeom>
          <a:noFill/>
        </p:spPr>
        <p:txBody>
          <a:bodyPr wrap="none">
            <a:spAutoFit/>
          </a:bodyPr>
          <a:lstStyle/>
          <a:p>
            <a:pPr>
              <a:defRPr sz="3600" b="1">
                <a:solidFill>
                  <a:srgbClr val="00467A"/>
                </a:solidFill>
              </a:defRPr>
            </a:pPr>
            <a:r>
              <a:rPr dirty="0">
                <a:solidFill>
                  <a:srgbClr val="7030A0"/>
                </a:solidFill>
                <a:latin typeface="Times New Roman" panose="02020603050405020304" pitchFamily="18" charset="0"/>
                <a:cs typeface="Times New Roman" panose="02020603050405020304" pitchFamily="18" charset="0"/>
              </a:rPr>
              <a:t>College Complaint and Issue Management System</a:t>
            </a:r>
          </a:p>
        </p:txBody>
      </p:sp>
      <p:sp>
        <p:nvSpPr>
          <p:cNvPr id="3" name="TextBox 2"/>
          <p:cNvSpPr txBox="1"/>
          <p:nvPr/>
        </p:nvSpPr>
        <p:spPr>
          <a:xfrm>
            <a:off x="5519054" y="3573035"/>
            <a:ext cx="5811206" cy="2215991"/>
          </a:xfrm>
          <a:prstGeom prst="rect">
            <a:avLst/>
          </a:prstGeom>
          <a:noFill/>
        </p:spPr>
        <p:txBody>
          <a:bodyPr wrap="none">
            <a:spAutoFit/>
          </a:bodyPr>
          <a:lstStyle/>
          <a:p>
            <a:pPr algn="r"/>
            <a:endParaRPr dirty="0">
              <a:latin typeface="Times New Roman" panose="02020603050405020304" pitchFamily="18" charset="0"/>
              <a:cs typeface="Times New Roman" panose="02020603050405020304" pitchFamily="18" charset="0"/>
            </a:endParaRPr>
          </a:p>
          <a:p>
            <a:pPr algn="r">
              <a:defRPr sz="2400">
                <a:solidFill>
                  <a:srgbClr val="000000"/>
                </a:solidFill>
              </a:defRPr>
            </a:pPr>
            <a:r>
              <a:rPr b="1" dirty="0">
                <a:latin typeface="Times New Roman" panose="02020603050405020304" pitchFamily="18" charset="0"/>
                <a:cs typeface="Times New Roman" panose="02020603050405020304" pitchFamily="18" charset="0"/>
              </a:rPr>
              <a:t>Grena Panchal, Manav Bhatt</a:t>
            </a:r>
            <a:endParaRPr lang="en-IN" b="1" dirty="0">
              <a:latin typeface="Times New Roman" panose="02020603050405020304" pitchFamily="18" charset="0"/>
              <a:cs typeface="Times New Roman" panose="02020603050405020304" pitchFamily="18" charset="0"/>
            </a:endParaRPr>
          </a:p>
          <a:p>
            <a:pPr algn="r">
              <a:defRPr sz="2400">
                <a:solidFill>
                  <a:srgbClr val="000000"/>
                </a:solidFill>
              </a:defRPr>
            </a:pPr>
            <a:endParaRPr dirty="0">
              <a:latin typeface="Times New Roman" panose="02020603050405020304" pitchFamily="18" charset="0"/>
              <a:cs typeface="Times New Roman" panose="02020603050405020304" pitchFamily="18" charset="0"/>
            </a:endParaRPr>
          </a:p>
          <a:p>
            <a:pPr algn="r">
              <a:defRPr sz="2400">
                <a:solidFill>
                  <a:srgbClr val="000000"/>
                </a:solidFill>
              </a:defRPr>
            </a:pPr>
            <a:r>
              <a:rPr dirty="0">
                <a:latin typeface="Times New Roman" panose="02020603050405020304" pitchFamily="18" charset="0"/>
                <a:cs typeface="Times New Roman" panose="02020603050405020304" pitchFamily="18" charset="0"/>
              </a:rPr>
              <a:t>Guide: Dr. Nilima Shah</a:t>
            </a:r>
          </a:p>
          <a:p>
            <a:pPr algn="r">
              <a:defRPr sz="2400">
                <a:solidFill>
                  <a:srgbClr val="000000"/>
                </a:solidFill>
              </a:defRPr>
            </a:pPr>
            <a:r>
              <a:rPr dirty="0">
                <a:latin typeface="Times New Roman" panose="02020603050405020304" pitchFamily="18" charset="0"/>
                <a:cs typeface="Times New Roman" panose="02020603050405020304" pitchFamily="18" charset="0"/>
              </a:rPr>
              <a:t>Department of Applied Mathematics</a:t>
            </a:r>
          </a:p>
          <a:p>
            <a:pPr algn="r">
              <a:defRPr sz="2400">
                <a:solidFill>
                  <a:srgbClr val="000000"/>
                </a:solidFill>
              </a:defRPr>
            </a:pPr>
            <a:r>
              <a:rPr dirty="0">
                <a:latin typeface="Times New Roman" panose="02020603050405020304" pitchFamily="18" charset="0"/>
                <a:cs typeface="Times New Roman" panose="02020603050405020304" pitchFamily="18" charset="0"/>
              </a:rPr>
              <a:t>The Maharaja Sayajirao University of Baroda</a:t>
            </a:r>
          </a:p>
        </p:txBody>
      </p:sp>
      <p:sp>
        <p:nvSpPr>
          <p:cNvPr id="4" name="TextBox 3"/>
          <p:cNvSpPr txBox="1"/>
          <p:nvPr/>
        </p:nvSpPr>
        <p:spPr>
          <a:xfrm>
            <a:off x="274320" y="91440"/>
            <a:ext cx="11612880" cy="457200"/>
          </a:xfrm>
          <a:prstGeom prst="rect">
            <a:avLst/>
          </a:prstGeom>
          <a:noFill/>
        </p:spPr>
        <p:txBody>
          <a:bodyPr wrap="none">
            <a:spAutoFit/>
          </a:bodyPr>
          <a:lstStyle/>
          <a:p>
            <a:pPr algn="ctr">
              <a:defRPr sz="1400" b="1"/>
            </a:pPr>
            <a:r>
              <a:t>College Complaint &amp; Issue Management System</a:t>
            </a:r>
          </a:p>
        </p:txBody>
      </p:sp>
      <p:sp>
        <p:nvSpPr>
          <p:cNvPr id="5" name="TextBox 4"/>
          <p:cNvSpPr txBox="1"/>
          <p:nvPr/>
        </p:nvSpPr>
        <p:spPr>
          <a:xfrm>
            <a:off x="274320" y="6309360"/>
            <a:ext cx="11612880" cy="457200"/>
          </a:xfrm>
          <a:prstGeom prst="rect">
            <a:avLst/>
          </a:prstGeom>
          <a:noFill/>
        </p:spPr>
        <p:txBody>
          <a:bodyPr wrap="none">
            <a:spAutoFit/>
          </a:bodyPr>
          <a:lstStyle/>
          <a:p>
            <a:pPr algn="ctr">
              <a:defRPr sz="1200"/>
            </a:pPr>
            <a:r>
              <a:t>The Maharaja Sayajirao University of Baroda | 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6911" y="643030"/>
            <a:ext cx="2689839"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Introduction</a:t>
            </a:r>
          </a:p>
        </p:txBody>
      </p:sp>
      <p:sp>
        <p:nvSpPr>
          <p:cNvPr id="3" name="TextBox 2"/>
          <p:cNvSpPr txBox="1"/>
          <p:nvPr/>
        </p:nvSpPr>
        <p:spPr>
          <a:xfrm>
            <a:off x="457200" y="1929862"/>
            <a:ext cx="9384890" cy="1938992"/>
          </a:xfrm>
          <a:prstGeom prst="rect">
            <a:avLst/>
          </a:prstGeom>
          <a:noFill/>
        </p:spPr>
        <p:txBody>
          <a:bodyPr wrap="square">
            <a:spAutoFit/>
          </a:bodyPr>
          <a:lstStyle/>
          <a:p>
            <a:pPr algn="just">
              <a:defRPr sz="2400">
                <a:solidFill>
                  <a:srgbClr val="000000"/>
                </a:solidFill>
              </a:defRPr>
            </a:pPr>
            <a:r>
              <a:rPr lang="en-US" sz="2400" dirty="0">
                <a:latin typeface="Times New Roman" panose="02020603050405020304" pitchFamily="18" charset="0"/>
                <a:cs typeface="Times New Roman" panose="02020603050405020304" pitchFamily="18" charset="0"/>
              </a:rPr>
              <a:t>For complaining, Many colleges still rely on manual methods like registers or verbal communication, which often leads to inefficiency and lack of transparency. To address this, a “</a:t>
            </a:r>
            <a:r>
              <a:rPr lang="en-US" sz="2400" b="1" dirty="0">
                <a:latin typeface="Times New Roman" panose="02020603050405020304" pitchFamily="18" charset="0"/>
                <a:cs typeface="Times New Roman" panose="02020603050405020304" pitchFamily="18" charset="0"/>
              </a:rPr>
              <a:t>College Complaint &amp; Issue Management System”</a:t>
            </a:r>
            <a:r>
              <a:rPr lang="en-US" sz="2400" dirty="0">
                <a:latin typeface="Times New Roman" panose="02020603050405020304" pitchFamily="18" charset="0"/>
                <a:cs typeface="Times New Roman" panose="02020603050405020304" pitchFamily="18" charset="0"/>
              </a:rPr>
              <a:t> has been developed as a web-based platform. It allows students to register, log in, and submit complaints online. </a:t>
            </a:r>
            <a:endParaRP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6904" y="643032"/>
            <a:ext cx="180049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Purpose</a:t>
            </a:r>
          </a:p>
        </p:txBody>
      </p:sp>
      <p:sp>
        <p:nvSpPr>
          <p:cNvPr id="3" name="TextBox 2"/>
          <p:cNvSpPr txBox="1"/>
          <p:nvPr/>
        </p:nvSpPr>
        <p:spPr>
          <a:xfrm>
            <a:off x="457200" y="1710816"/>
            <a:ext cx="9296399" cy="341632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project’s purpose is to provide a fast, reliable, and transparent way for students and staff to submit and manage complaints online. It replaces the slow, manual process that often leads to mismanagement, data loss, and poor communication. Users can register, submit complaints from anywhere, and track their status, while administrators can view, manage, and resolve them efficiently. The existing manual system suffers from lost or ignored complaints, lack of tracking, delays, and poor transparency. Overall, the new system reduces workload, saves time, and ensures better communication and record-keeping.</a:t>
            </a:r>
            <a:endParaRPr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8ACA4-494D-C608-C576-BF7AADEC31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3FADF1-DD73-03BB-9132-CA337AD842AC}"/>
              </a:ext>
            </a:extLst>
          </p:cNvPr>
          <p:cNvSpPr txBox="1"/>
          <p:nvPr/>
        </p:nvSpPr>
        <p:spPr>
          <a:xfrm>
            <a:off x="1646904" y="643032"/>
            <a:ext cx="1338828" cy="646331"/>
          </a:xfrm>
          <a:prstGeom prst="rect">
            <a:avLst/>
          </a:prstGeom>
          <a:noFill/>
        </p:spPr>
        <p:txBody>
          <a:bodyPr wrap="none">
            <a:spAutoFit/>
          </a:bodyPr>
          <a:lstStyle/>
          <a:p>
            <a:pPr>
              <a:defRPr sz="3600" b="1">
                <a:solidFill>
                  <a:srgbClr val="00467A"/>
                </a:solidFill>
              </a:defRPr>
            </a:pPr>
            <a:r>
              <a:rPr lang="en-US" dirty="0">
                <a:latin typeface="Times New Roman" panose="02020603050405020304" pitchFamily="18" charset="0"/>
                <a:cs typeface="Times New Roman" panose="02020603050405020304" pitchFamily="18" charset="0"/>
              </a:rPr>
              <a:t>Scope</a:t>
            </a: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8E529DB-B465-25AD-72A0-BE77E0A32D00}"/>
              </a:ext>
            </a:extLst>
          </p:cNvPr>
          <p:cNvSpPr txBox="1"/>
          <p:nvPr/>
        </p:nvSpPr>
        <p:spPr>
          <a:xfrm>
            <a:off x="457200" y="1710816"/>
            <a:ext cx="9994739" cy="3046988"/>
          </a:xfrm>
          <a:prstGeom prst="rect">
            <a:avLst/>
          </a:prstGeom>
          <a:noFill/>
        </p:spPr>
        <p:txBody>
          <a:bodyPr wrap="square">
            <a:spAutoFit/>
          </a:bodyPr>
          <a:lstStyle/>
          <a:p>
            <a:pPr marL="342900" indent="-342900">
              <a:buFont typeface="Arial" panose="020B0604020202020204" pitchFamily="34" charset="0"/>
              <a:buChar char="•"/>
            </a:pPr>
            <a:r>
              <a:rPr lang="en-US" sz="2400" dirty="0"/>
              <a:t>The scope of this system is limited to internal college operations. It includes managing complaints related to classrooms, laboratories, library services, campus safety, and administrative departments. </a:t>
            </a:r>
          </a:p>
          <a:p>
            <a:endParaRPr lang="en-US" sz="2400" dirty="0"/>
          </a:p>
          <a:p>
            <a:pPr marL="342900" indent="-342900">
              <a:buFont typeface="Arial" panose="020B0604020202020204" pitchFamily="34" charset="0"/>
              <a:buChar char="•"/>
            </a:pPr>
            <a:r>
              <a:rPr lang="en-US" sz="2400" dirty="0"/>
              <a:t>The system supports complaint tracking, status updates, and record maintenance to improve communication between users and college authorities.</a:t>
            </a:r>
            <a:r>
              <a:rPr lang="en-US"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3C67016-CEF1-2A6A-7A7A-471AE91EE265}"/>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5EB05893-AFC3-0FC8-4B36-4EA57C572170}"/>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extLst>
      <p:ext uri="{BB962C8B-B14F-4D97-AF65-F5344CB8AC3E}">
        <p14:creationId xmlns:p14="http://schemas.microsoft.com/office/powerpoint/2010/main" val="3358786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AA08F-3449-885E-96D9-F4B986B495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A19696-0318-1CA0-DA20-96752C19414A}"/>
              </a:ext>
            </a:extLst>
          </p:cNvPr>
          <p:cNvSpPr txBox="1"/>
          <p:nvPr/>
        </p:nvSpPr>
        <p:spPr>
          <a:xfrm>
            <a:off x="1646904" y="643032"/>
            <a:ext cx="5045548" cy="646331"/>
          </a:xfrm>
          <a:prstGeom prst="rect">
            <a:avLst/>
          </a:prstGeom>
          <a:noFill/>
        </p:spPr>
        <p:txBody>
          <a:bodyPr wrap="none">
            <a:spAutoFit/>
          </a:bodyPr>
          <a:lstStyle/>
          <a:p>
            <a:pPr>
              <a:defRPr sz="3600" b="1">
                <a:solidFill>
                  <a:srgbClr val="00467A"/>
                </a:solidFill>
              </a:defRPr>
            </a:pPr>
            <a:r>
              <a:rPr lang="en-US" dirty="0">
                <a:latin typeface="Times New Roman" panose="02020603050405020304" pitchFamily="18" charset="0"/>
                <a:cs typeface="Times New Roman" panose="02020603050405020304" pitchFamily="18" charset="0"/>
              </a:rPr>
              <a:t>Platform and Tools Used</a:t>
            </a: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DE6E51-27C7-250C-D51F-F26EAC0C8543}"/>
              </a:ext>
            </a:extLst>
          </p:cNvPr>
          <p:cNvSpPr txBox="1"/>
          <p:nvPr/>
        </p:nvSpPr>
        <p:spPr>
          <a:xfrm>
            <a:off x="457200" y="1409874"/>
            <a:ext cx="9994739" cy="4893647"/>
          </a:xfrm>
          <a:prstGeom prst="rect">
            <a:avLst/>
          </a:prstGeom>
          <a:noFill/>
        </p:spPr>
        <p:txBody>
          <a:bodyPr wrap="square">
            <a:spAutoFit/>
          </a:bodyPr>
          <a:lstStyle/>
          <a:p>
            <a:pPr marL="342900" indent="-342900">
              <a:buFont typeface="Wingdings" panose="05000000000000000000" pitchFamily="2" charset="2"/>
              <a:buChar char="v"/>
            </a:pPr>
            <a:r>
              <a:rPr lang="en-US" sz="2400" b="1" dirty="0"/>
              <a:t>Frontend:</a:t>
            </a:r>
          </a:p>
          <a:p>
            <a:pPr marL="342900" indent="-342900">
              <a:buFont typeface="Arial" panose="020B0604020202020204" pitchFamily="34" charset="0"/>
              <a:buChar char="•"/>
            </a:pPr>
            <a:r>
              <a:rPr lang="en-US" sz="2400" dirty="0"/>
              <a:t>HTML – Structure of web pages </a:t>
            </a:r>
          </a:p>
          <a:p>
            <a:pPr marL="342900" indent="-342900">
              <a:buFont typeface="Arial" panose="020B0604020202020204" pitchFamily="34" charset="0"/>
              <a:buChar char="•"/>
            </a:pPr>
            <a:r>
              <a:rPr lang="en-US" sz="2400" dirty="0"/>
              <a:t>CSS – Styling and design </a:t>
            </a:r>
          </a:p>
          <a:p>
            <a:pPr marL="342900" indent="-342900">
              <a:buFont typeface="Arial" panose="020B0604020202020204" pitchFamily="34" charset="0"/>
              <a:buChar char="•"/>
            </a:pPr>
            <a:r>
              <a:rPr lang="en-US" sz="2400" dirty="0"/>
              <a:t>JavaScript – Interactivity </a:t>
            </a:r>
          </a:p>
          <a:p>
            <a:pPr marL="342900" indent="-342900">
              <a:buFont typeface="Arial" panose="020B0604020202020204" pitchFamily="34" charset="0"/>
              <a:buChar char="•"/>
            </a:pPr>
            <a:r>
              <a:rPr lang="en-US" sz="2400" dirty="0"/>
              <a:t>React.js – Dynamic UI</a:t>
            </a:r>
          </a:p>
          <a:p>
            <a:pPr marL="342900" indent="-342900">
              <a:buFont typeface="Wingdings" panose="05000000000000000000" pitchFamily="2" charset="2"/>
              <a:buChar char="v"/>
            </a:pPr>
            <a:r>
              <a:rPr lang="en-US" sz="2400" b="1" dirty="0"/>
              <a:t>Backend:</a:t>
            </a:r>
          </a:p>
          <a:p>
            <a:pPr marL="342900" indent="-342900">
              <a:buFont typeface="Arial" panose="020B0604020202020204" pitchFamily="34" charset="0"/>
              <a:buChar char="•"/>
            </a:pPr>
            <a:r>
              <a:rPr lang="en-US" sz="2400" dirty="0"/>
              <a:t>Node.js – Server-side logic </a:t>
            </a:r>
          </a:p>
          <a:p>
            <a:pPr marL="342900" indent="-342900">
              <a:buFont typeface="Arial" panose="020B0604020202020204" pitchFamily="34" charset="0"/>
              <a:buChar char="•"/>
            </a:pPr>
            <a:r>
              <a:rPr lang="en-US" sz="2400" dirty="0"/>
              <a:t>Express.js – API handling</a:t>
            </a:r>
          </a:p>
          <a:p>
            <a:pPr marL="342900" indent="-342900">
              <a:buFont typeface="Wingdings" panose="05000000000000000000" pitchFamily="2" charset="2"/>
              <a:buChar char="v"/>
            </a:pPr>
            <a:r>
              <a:rPr lang="en-US" sz="2400" b="1" dirty="0"/>
              <a:t>Database:</a:t>
            </a:r>
          </a:p>
          <a:p>
            <a:pPr marL="342900" indent="-342900">
              <a:buFont typeface="Arial" panose="020B0604020202020204" pitchFamily="34" charset="0"/>
              <a:buChar char="•"/>
            </a:pPr>
            <a:r>
              <a:rPr lang="en-US" sz="2400" dirty="0"/>
              <a:t>MySQL – Store user &amp; complaint data</a:t>
            </a:r>
          </a:p>
          <a:p>
            <a:pPr marL="342900" indent="-342900">
              <a:buFont typeface="Wingdings" panose="05000000000000000000" pitchFamily="2" charset="2"/>
              <a:buChar char="v"/>
            </a:pPr>
            <a:r>
              <a:rPr lang="en-US" sz="2400" b="1" dirty="0"/>
              <a:t>Server:</a:t>
            </a:r>
          </a:p>
          <a:p>
            <a:pPr marL="342900" indent="-342900">
              <a:buFont typeface="Arial" panose="020B0604020202020204" pitchFamily="34" charset="0"/>
              <a:buChar char="•"/>
            </a:pPr>
            <a:r>
              <a:rPr lang="en-US" sz="2400" dirty="0"/>
              <a:t>Apache – Hosting the application</a:t>
            </a:r>
          </a:p>
          <a:p>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49BE6E-355E-745B-102C-56514FE41E52}"/>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CDDCC9E1-A516-A864-29D2-5C194649600A}"/>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extLst>
      <p:ext uri="{BB962C8B-B14F-4D97-AF65-F5344CB8AC3E}">
        <p14:creationId xmlns:p14="http://schemas.microsoft.com/office/powerpoint/2010/main" val="3912286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6" y="652864"/>
            <a:ext cx="335239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System Analysis</a:t>
            </a:r>
          </a:p>
        </p:txBody>
      </p:sp>
      <p:sp>
        <p:nvSpPr>
          <p:cNvPr id="3" name="TextBox 2"/>
          <p:cNvSpPr txBox="1"/>
          <p:nvPr/>
        </p:nvSpPr>
        <p:spPr>
          <a:xfrm>
            <a:off x="914400" y="1828800"/>
            <a:ext cx="6696064" cy="1846659"/>
          </a:xfrm>
          <a:prstGeom prst="rect">
            <a:avLst/>
          </a:prstGeom>
          <a:noFill/>
        </p:spPr>
        <p:txBody>
          <a:bodyPr wrap="none">
            <a:spAutoFit/>
          </a:bodyPr>
          <a:lstStyle/>
          <a:p>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lang="en-US" sz="2400" dirty="0"/>
              <a:t>Study of existing complaint system</a:t>
            </a:r>
          </a:p>
          <a:p>
            <a:pPr marL="342900" indent="-342900">
              <a:buFont typeface="Arial" panose="020B0604020202020204" pitchFamily="34" charset="0"/>
              <a:buChar char="•"/>
              <a:defRPr sz="2400">
                <a:solidFill>
                  <a:srgbClr val="000000"/>
                </a:solidFill>
              </a:defRPr>
            </a:pPr>
            <a:r>
              <a:rPr lang="en-US" sz="2400" dirty="0"/>
              <a:t>Current system is manual (register/verbal)</a:t>
            </a:r>
          </a:p>
          <a:p>
            <a:pPr marL="342900" indent="-342900">
              <a:buFont typeface="Arial" panose="020B0604020202020204" pitchFamily="34" charset="0"/>
              <a:buChar char="•"/>
              <a:defRPr sz="2400">
                <a:solidFill>
                  <a:srgbClr val="000000"/>
                </a:solidFill>
              </a:defRPr>
            </a:pPr>
            <a:r>
              <a:rPr lang="en-US" sz="2400" dirty="0"/>
              <a:t>Complaints may get lost or ignored</a:t>
            </a:r>
          </a:p>
          <a:p>
            <a:pPr marL="342900" indent="-342900">
              <a:buFont typeface="Arial" panose="020B0604020202020204" pitchFamily="34" charset="0"/>
              <a:buChar char="•"/>
              <a:defRPr sz="2400">
                <a:solidFill>
                  <a:srgbClr val="000000"/>
                </a:solidFill>
              </a:defRPr>
            </a:pPr>
            <a:r>
              <a:rPr lang="en-US" sz="2400" dirty="0"/>
              <a:t>Difficult to manage records manually</a:t>
            </a: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8" y="652864"/>
            <a:ext cx="580607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Problems in Existing System</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
        <p:nvSpPr>
          <p:cNvPr id="6" name="TextBox 5">
            <a:extLst>
              <a:ext uri="{FF2B5EF4-FFF2-40B4-BE49-F238E27FC236}">
                <a16:creationId xmlns:a16="http://schemas.microsoft.com/office/drawing/2014/main" id="{2EFC7F7A-FA8E-EDA0-3EA3-86A3368C997B}"/>
              </a:ext>
            </a:extLst>
          </p:cNvPr>
          <p:cNvSpPr txBox="1"/>
          <p:nvPr/>
        </p:nvSpPr>
        <p:spPr>
          <a:xfrm>
            <a:off x="1031705" y="2351654"/>
            <a:ext cx="8563708" cy="2677656"/>
          </a:xfrm>
          <a:prstGeom prst="rect">
            <a:avLst/>
          </a:prstGeom>
          <a:noFill/>
        </p:spPr>
        <p:txBody>
          <a:bodyPr wrap="square">
            <a:spAutoFit/>
          </a:bodyPr>
          <a:lstStyle/>
          <a:p>
            <a:r>
              <a:rPr lang="en-IN" sz="2400" dirty="0">
                <a:effectLst/>
              </a:rPr>
              <a:t>The major problems of the existing system include:</a:t>
            </a:r>
          </a:p>
          <a:p>
            <a:pPr marL="0" indent="0">
              <a:buNone/>
            </a:pPr>
            <a:endParaRPr lang="en-US" sz="2400" dirty="0">
              <a:effectLst/>
            </a:endParaRPr>
          </a:p>
          <a:p>
            <a:pPr marL="342900" lvl="0" indent="-342900">
              <a:buFont typeface="Arial" panose="020B0604020202020204" pitchFamily="34" charset="0"/>
              <a:buChar char="•"/>
            </a:pPr>
            <a:r>
              <a:rPr lang="en-IN" sz="2400" dirty="0">
                <a:effectLst/>
              </a:rPr>
              <a:t>No proper tracking mechanism</a:t>
            </a:r>
            <a:endParaRPr lang="en-US" sz="2400" dirty="0">
              <a:effectLst/>
            </a:endParaRPr>
          </a:p>
          <a:p>
            <a:pPr marL="342900" lvl="0" indent="-342900">
              <a:buFont typeface="Arial" panose="020B0604020202020204" pitchFamily="34" charset="0"/>
              <a:buChar char="•"/>
            </a:pPr>
            <a:r>
              <a:rPr lang="en-IN" sz="2400" dirty="0">
                <a:effectLst/>
              </a:rPr>
              <a:t>Delays in complaint resolution</a:t>
            </a:r>
            <a:endParaRPr lang="en-US" sz="2400" dirty="0">
              <a:effectLst/>
            </a:endParaRPr>
          </a:p>
          <a:p>
            <a:pPr marL="342900" lvl="0" indent="-342900">
              <a:buFont typeface="Arial" panose="020B0604020202020204" pitchFamily="34" charset="0"/>
              <a:buChar char="•"/>
            </a:pPr>
            <a:r>
              <a:rPr lang="en-IN" sz="2400" dirty="0">
                <a:effectLst/>
              </a:rPr>
              <a:t>Complaints recorded in physical registers</a:t>
            </a:r>
            <a:endParaRPr lang="en-US" sz="2400" dirty="0">
              <a:effectLst/>
            </a:endParaRPr>
          </a:p>
          <a:p>
            <a:pPr marL="342900" lvl="0" indent="-342900">
              <a:buFont typeface="Arial" panose="020B0604020202020204" pitchFamily="34" charset="0"/>
              <a:buChar char="•"/>
            </a:pPr>
            <a:r>
              <a:rPr lang="en-IN" sz="2400" dirty="0">
                <a:effectLst/>
              </a:rPr>
              <a:t>Complaints may be ignored or misplaced</a:t>
            </a:r>
            <a:endParaRPr lang="en-US" sz="2400" dirty="0">
              <a:effectLst/>
            </a:endParaRPr>
          </a:p>
          <a:p>
            <a:pPr marL="342900" lvl="0" indent="-342900">
              <a:buFont typeface="Arial" panose="020B0604020202020204" pitchFamily="34" charset="0"/>
              <a:buChar char="•"/>
            </a:pPr>
            <a:r>
              <a:rPr lang="en-IN" sz="2400" dirty="0">
                <a:effectLst/>
              </a:rPr>
              <a:t>Lack of transparency for students</a:t>
            </a:r>
            <a:endParaRPr lang="en-US" sz="2400" dirty="0">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7" y="652864"/>
            <a:ext cx="182614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Solution</a:t>
            </a:r>
          </a:p>
        </p:txBody>
      </p:sp>
      <p:sp>
        <p:nvSpPr>
          <p:cNvPr id="3" name="TextBox 2"/>
          <p:cNvSpPr txBox="1"/>
          <p:nvPr/>
        </p:nvSpPr>
        <p:spPr>
          <a:xfrm>
            <a:off x="914400" y="1828800"/>
            <a:ext cx="6361037" cy="1846659"/>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Online complaint submission and tracking</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Centralized database for secure storage</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Clear communication between users and admin</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Efficient and transparent complaint handling</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7" y="652864"/>
            <a:ext cx="2236510" cy="646331"/>
          </a:xfrm>
          <a:prstGeom prst="rect">
            <a:avLst/>
          </a:prstGeom>
          <a:noFill/>
        </p:spPr>
        <p:txBody>
          <a:bodyPr wrap="none">
            <a:spAutoFit/>
          </a:bodyPr>
          <a:lstStyle/>
          <a:p>
            <a:pPr>
              <a:defRPr sz="3600" b="1">
                <a:solidFill>
                  <a:srgbClr val="00467A"/>
                </a:solidFill>
              </a:defRPr>
            </a:pPr>
            <a:r>
              <a:rPr>
                <a:latin typeface="Times New Roman" panose="02020603050405020304" pitchFamily="18" charset="0"/>
                <a:cs typeface="Times New Roman" panose="02020603050405020304" pitchFamily="18" charset="0"/>
              </a:rPr>
              <a:t>Feasibility</a:t>
            </a:r>
          </a:p>
        </p:txBody>
      </p:sp>
      <p:sp>
        <p:nvSpPr>
          <p:cNvPr id="3" name="TextBox 2"/>
          <p:cNvSpPr txBox="1"/>
          <p:nvPr/>
        </p:nvSpPr>
        <p:spPr>
          <a:xfrm>
            <a:off x="914400" y="1828800"/>
            <a:ext cx="6168035" cy="1477328"/>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Technical: HTML, CSS, JS, Node.js, MySQL</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Operational: User-friendly, no training neede</a:t>
            </a:r>
            <a:r>
              <a:rPr lang="en-US" dirty="0">
                <a:latin typeface="Times New Roman" panose="02020603050405020304" pitchFamily="18" charset="0"/>
                <a:cs typeface="Times New Roman" panose="02020603050405020304" pitchFamily="18" charset="0"/>
              </a:rPr>
              <a:t>d</a:t>
            </a:r>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Economic: Low cost using open-source tools</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6" y="652864"/>
            <a:ext cx="4823115"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Software Requirements</a:t>
            </a:r>
          </a:p>
        </p:txBody>
      </p:sp>
      <p:sp>
        <p:nvSpPr>
          <p:cNvPr id="3" name="TextBox 2"/>
          <p:cNvSpPr txBox="1"/>
          <p:nvPr/>
        </p:nvSpPr>
        <p:spPr>
          <a:xfrm>
            <a:off x="914400" y="1828800"/>
            <a:ext cx="5947462" cy="1846659"/>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Frontend: HTML, CSS, JavaScript, React.js</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Backend: Node.js, Express.js</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Database: MySQL</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Server: Apache</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6908" y="643030"/>
            <a:ext cx="519052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Functional Requirements</a:t>
            </a:r>
          </a:p>
        </p:txBody>
      </p:sp>
      <p:sp>
        <p:nvSpPr>
          <p:cNvPr id="3" name="TextBox 2"/>
          <p:cNvSpPr txBox="1"/>
          <p:nvPr/>
        </p:nvSpPr>
        <p:spPr>
          <a:xfrm>
            <a:off x="914400" y="1828800"/>
            <a:ext cx="7225889" cy="1477328"/>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Students: Register, login, submit/view complaints</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Staff: Login, view/update complaints, generate reports</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System: Store data, maintain history, secure login</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6" y="652864"/>
            <a:ext cx="6165149"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Non-Functional Requirements</a:t>
            </a:r>
          </a:p>
        </p:txBody>
      </p:sp>
      <p:sp>
        <p:nvSpPr>
          <p:cNvPr id="3" name="TextBox 2"/>
          <p:cNvSpPr txBox="1"/>
          <p:nvPr/>
        </p:nvSpPr>
        <p:spPr>
          <a:xfrm>
            <a:off x="914400" y="1828800"/>
            <a:ext cx="7547259" cy="1107996"/>
          </a:xfrm>
          <a:prstGeom prst="rect">
            <a:avLst/>
          </a:prstGeom>
          <a:noFill/>
        </p:spPr>
        <p:txBody>
          <a:bodyPr wrap="none">
            <a:spAutoFit/>
          </a:bodyPr>
          <a:lstStyle/>
          <a:p>
            <a:endParaRPr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Performance: Fast response, multi-user support</a:t>
            </a:r>
          </a:p>
          <a:p>
            <a:pPr marL="342900" indent="-342900">
              <a:buFont typeface="Arial" panose="020B0604020202020204" pitchFamily="34" charset="0"/>
              <a:buChar char="•"/>
              <a:defRPr sz="2400">
                <a:solidFill>
                  <a:srgbClr val="000000"/>
                </a:solidFill>
              </a:defRPr>
            </a:pPr>
            <a:r>
              <a:rPr dirty="0">
                <a:latin typeface="Times New Roman" panose="02020603050405020304" pitchFamily="18" charset="0"/>
                <a:cs typeface="Times New Roman" panose="02020603050405020304" pitchFamily="18" charset="0"/>
              </a:rPr>
              <a:t>Security: Secure login, data protection, role-based access</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6734" y="643032"/>
            <a:ext cx="304442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System Design</a:t>
            </a:r>
          </a:p>
        </p:txBody>
      </p:sp>
      <p:sp>
        <p:nvSpPr>
          <p:cNvPr id="3" name="TextBox 2"/>
          <p:cNvSpPr txBox="1"/>
          <p:nvPr/>
        </p:nvSpPr>
        <p:spPr>
          <a:xfrm>
            <a:off x="1922280" y="1444871"/>
            <a:ext cx="8316957" cy="4708981"/>
          </a:xfrm>
          <a:prstGeom prst="rect">
            <a:avLst/>
          </a:prstGeom>
          <a:noFill/>
        </p:spPr>
        <p:txBody>
          <a:bodyPr wrap="none">
            <a:spAutoFit/>
          </a:bodyPr>
          <a:lstStyle/>
          <a:p>
            <a:pPr algn="ctr"/>
            <a:r>
              <a:rPr lang="en-US" sz="2000" dirty="0">
                <a:latin typeface="Times New Roman" panose="02020603050405020304" pitchFamily="18" charset="0"/>
                <a:cs typeface="Times New Roman" panose="02020603050405020304" pitchFamily="18" charset="0"/>
              </a:rPr>
              <a:t>The working of the system can be explained in the following steps:</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User Login</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Submit Complaint</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Complaint Stored in Database</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Staff Reviews Complaint</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Staff Updates Status</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User Views Updated Status</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This workflow shows how data moves from user to admin and back to the user.</a:t>
            </a: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dirty="0">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DC3848-8C50-FC05-D06A-F84822087B9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8657" y="1606047"/>
            <a:ext cx="5731510" cy="4609465"/>
          </a:xfrm>
          <a:prstGeom prst="rect">
            <a:avLst/>
          </a:prstGeom>
          <a:noFill/>
          <a:ln>
            <a:noFill/>
          </a:ln>
        </p:spPr>
      </p:pic>
      <p:sp>
        <p:nvSpPr>
          <p:cNvPr id="4" name="TextBox 3">
            <a:extLst>
              <a:ext uri="{FF2B5EF4-FFF2-40B4-BE49-F238E27FC236}">
                <a16:creationId xmlns:a16="http://schemas.microsoft.com/office/drawing/2014/main" id="{3B4CAE55-3E55-D6E0-F187-E74CF57D71EF}"/>
              </a:ext>
            </a:extLst>
          </p:cNvPr>
          <p:cNvSpPr txBox="1"/>
          <p:nvPr/>
        </p:nvSpPr>
        <p:spPr>
          <a:xfrm>
            <a:off x="1661654" y="650224"/>
            <a:ext cx="6096000" cy="646331"/>
          </a:xfrm>
          <a:prstGeom prst="rect">
            <a:avLst/>
          </a:prstGeom>
          <a:noFill/>
        </p:spPr>
        <p:txBody>
          <a:bodyPr wrap="squar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Use Case Diagram</a:t>
            </a:r>
          </a:p>
        </p:txBody>
      </p:sp>
    </p:spTree>
    <p:extLst>
      <p:ext uri="{BB962C8B-B14F-4D97-AF65-F5344CB8AC3E}">
        <p14:creationId xmlns:p14="http://schemas.microsoft.com/office/powerpoint/2010/main" val="19028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3B3CAD-274E-8C6B-6992-29D2784DED27}"/>
              </a:ext>
            </a:extLst>
          </p:cNvPr>
          <p:cNvSpPr txBox="1"/>
          <p:nvPr/>
        </p:nvSpPr>
        <p:spPr>
          <a:xfrm>
            <a:off x="1661653" y="640398"/>
            <a:ext cx="6096000" cy="646331"/>
          </a:xfrm>
          <a:prstGeom prst="rect">
            <a:avLst/>
          </a:prstGeom>
          <a:noFill/>
        </p:spPr>
        <p:txBody>
          <a:bodyPr wrap="squar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Data Flow Diagram (DFD)</a:t>
            </a:r>
          </a:p>
        </p:txBody>
      </p:sp>
      <p:pic>
        <p:nvPicPr>
          <p:cNvPr id="4" name="Picture 3">
            <a:extLst>
              <a:ext uri="{FF2B5EF4-FFF2-40B4-BE49-F238E27FC236}">
                <a16:creationId xmlns:a16="http://schemas.microsoft.com/office/drawing/2014/main" id="{62E5D369-8BC9-FC0D-CDA7-C955F2B29E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9143" y="2259231"/>
            <a:ext cx="5731510" cy="3180715"/>
          </a:xfrm>
          <a:prstGeom prst="rect">
            <a:avLst/>
          </a:prstGeom>
          <a:noFill/>
          <a:ln>
            <a:noFill/>
          </a:ln>
        </p:spPr>
      </p:pic>
      <p:pic>
        <p:nvPicPr>
          <p:cNvPr id="6" name="Picture 5">
            <a:extLst>
              <a:ext uri="{FF2B5EF4-FFF2-40B4-BE49-F238E27FC236}">
                <a16:creationId xmlns:a16="http://schemas.microsoft.com/office/drawing/2014/main" id="{3688ED5A-DA99-0B51-75D7-36542DD8F0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88173" y="1732280"/>
            <a:ext cx="5731510" cy="5125720"/>
          </a:xfrm>
          <a:prstGeom prst="rect">
            <a:avLst/>
          </a:prstGeom>
          <a:noFill/>
          <a:ln>
            <a:noFill/>
          </a:ln>
        </p:spPr>
      </p:pic>
      <p:sp>
        <p:nvSpPr>
          <p:cNvPr id="7" name="TextBox 6">
            <a:extLst>
              <a:ext uri="{FF2B5EF4-FFF2-40B4-BE49-F238E27FC236}">
                <a16:creationId xmlns:a16="http://schemas.microsoft.com/office/drawing/2014/main" id="{989972D6-D738-6A0D-6235-9978FBB71C74}"/>
              </a:ext>
            </a:extLst>
          </p:cNvPr>
          <p:cNvSpPr txBox="1"/>
          <p:nvPr/>
        </p:nvSpPr>
        <p:spPr>
          <a:xfrm>
            <a:off x="1986111" y="1592829"/>
            <a:ext cx="1808508" cy="461665"/>
          </a:xfrm>
          <a:prstGeom prst="rect">
            <a:avLst/>
          </a:prstGeom>
          <a:noFill/>
        </p:spPr>
        <p:txBody>
          <a:bodyPr wrap="none">
            <a:spAutoFit/>
          </a:bodyPr>
          <a:lstStyle/>
          <a:p>
            <a:r>
              <a:rPr lang="en-US" sz="2400" dirty="0">
                <a:latin typeface="Times New Roman" panose="02020603050405020304" pitchFamily="18" charset="0"/>
                <a:cs typeface="Times New Roman" panose="02020603050405020304" pitchFamily="18" charset="0"/>
              </a:rPr>
              <a:t>Level 0 DFD</a:t>
            </a:r>
          </a:p>
        </p:txBody>
      </p:sp>
      <p:sp>
        <p:nvSpPr>
          <p:cNvPr id="8" name="TextBox 7">
            <a:extLst>
              <a:ext uri="{FF2B5EF4-FFF2-40B4-BE49-F238E27FC236}">
                <a16:creationId xmlns:a16="http://schemas.microsoft.com/office/drawing/2014/main" id="{5B81B0E9-15BB-774D-9F20-4A25B56F9596}"/>
              </a:ext>
            </a:extLst>
          </p:cNvPr>
          <p:cNvSpPr txBox="1"/>
          <p:nvPr/>
        </p:nvSpPr>
        <p:spPr>
          <a:xfrm>
            <a:off x="8149674" y="1270615"/>
            <a:ext cx="1808508" cy="461665"/>
          </a:xfrm>
          <a:prstGeom prst="rect">
            <a:avLst/>
          </a:prstGeom>
          <a:noFill/>
        </p:spPr>
        <p:txBody>
          <a:bodyPr wrap="none">
            <a:spAutoFit/>
          </a:bodyPr>
          <a:lstStyle/>
          <a:p>
            <a:r>
              <a:rPr lang="en-US" sz="2400" dirty="0">
                <a:latin typeface="Times New Roman" panose="02020603050405020304" pitchFamily="18" charset="0"/>
                <a:cs typeface="Times New Roman" panose="02020603050405020304" pitchFamily="18" charset="0"/>
              </a:rPr>
              <a:t>Level 1 DFD</a:t>
            </a:r>
          </a:p>
        </p:txBody>
      </p:sp>
    </p:spTree>
    <p:extLst>
      <p:ext uri="{BB962C8B-B14F-4D97-AF65-F5344CB8AC3E}">
        <p14:creationId xmlns:p14="http://schemas.microsoft.com/office/powerpoint/2010/main" val="1732889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5567F9C-F87E-37EE-FE3E-11D9D267E41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6062" y="1295875"/>
            <a:ext cx="7141396" cy="5362772"/>
          </a:xfrm>
          <a:prstGeom prst="rect">
            <a:avLst/>
          </a:prstGeom>
          <a:noFill/>
          <a:ln>
            <a:noFill/>
          </a:ln>
        </p:spPr>
      </p:pic>
      <p:sp>
        <p:nvSpPr>
          <p:cNvPr id="4" name="TextBox 3">
            <a:extLst>
              <a:ext uri="{FF2B5EF4-FFF2-40B4-BE49-F238E27FC236}">
                <a16:creationId xmlns:a16="http://schemas.microsoft.com/office/drawing/2014/main" id="{67DD4886-F0D1-9378-56E2-48475751D1DD}"/>
              </a:ext>
            </a:extLst>
          </p:cNvPr>
          <p:cNvSpPr txBox="1"/>
          <p:nvPr/>
        </p:nvSpPr>
        <p:spPr>
          <a:xfrm>
            <a:off x="1661651" y="640398"/>
            <a:ext cx="6096000" cy="646331"/>
          </a:xfrm>
          <a:prstGeom prst="rect">
            <a:avLst/>
          </a:prstGeom>
          <a:noFill/>
        </p:spPr>
        <p:txBody>
          <a:bodyPr wrap="squar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E-R Diagram</a:t>
            </a:r>
          </a:p>
        </p:txBody>
      </p:sp>
    </p:spTree>
    <p:extLst>
      <p:ext uri="{BB962C8B-B14F-4D97-AF65-F5344CB8AC3E}">
        <p14:creationId xmlns:p14="http://schemas.microsoft.com/office/powerpoint/2010/main" val="3543948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6567" y="643029"/>
            <a:ext cx="594714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Home Page</a:t>
            </a:r>
            <a:endParaRP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AA54F45F-B52F-68FE-A055-010B5E5B3E14}"/>
              </a:ext>
            </a:extLst>
          </p:cNvPr>
          <p:cNvPicPr>
            <a:picLocks/>
          </p:cNvPicPr>
          <p:nvPr/>
        </p:nvPicPr>
        <p:blipFill>
          <a:blip r:embed="rId2"/>
          <a:srcRect t="13206" b="4632"/>
          <a:stretch>
            <a:fillRect/>
          </a:stretch>
        </p:blipFill>
        <p:spPr>
          <a:xfrm>
            <a:off x="1440000" y="1440000"/>
            <a:ext cx="9360000" cy="468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490C-E784-9A94-798B-AED54E31AF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9C34F4-76FA-C388-77CD-2391D0E995AB}"/>
              </a:ext>
            </a:extLst>
          </p:cNvPr>
          <p:cNvSpPr txBox="1"/>
          <p:nvPr/>
        </p:nvSpPr>
        <p:spPr>
          <a:xfrm>
            <a:off x="1666567" y="643029"/>
            <a:ext cx="6511398"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Student Login</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A3E0C63-AE4B-2D69-99E4-E5AD280E8E3F}"/>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B3840028-1B07-0D23-B1E6-D9DD70AFD06C}"/>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9" name="Picture 8">
            <a:extLst>
              <a:ext uri="{FF2B5EF4-FFF2-40B4-BE49-F238E27FC236}">
                <a16:creationId xmlns:a16="http://schemas.microsoft.com/office/drawing/2014/main" id="{633B92FD-59F3-55BE-D570-1238D0D8654F}"/>
              </a:ext>
            </a:extLst>
          </p:cNvPr>
          <p:cNvPicPr>
            <a:picLocks/>
          </p:cNvPicPr>
          <p:nvPr/>
        </p:nvPicPr>
        <p:blipFill>
          <a:blip r:embed="rId2"/>
          <a:srcRect t="13610" b="550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3375249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D8EFF-7A5E-0E7F-6882-15D3A7E31E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2BE71E-83E3-0FDE-4E03-EB14E26D44C4}"/>
              </a:ext>
            </a:extLst>
          </p:cNvPr>
          <p:cNvSpPr txBox="1"/>
          <p:nvPr/>
        </p:nvSpPr>
        <p:spPr>
          <a:xfrm>
            <a:off x="1666567" y="643029"/>
            <a:ext cx="5267468"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Register</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860A27-E046-9D3F-EE38-D31F8D025F0A}"/>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7A1582E2-8B28-8004-3639-37CE4A56D9AF}"/>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18FA9B8E-F0F1-9404-51BB-8F111689E759}"/>
              </a:ext>
            </a:extLst>
          </p:cNvPr>
          <p:cNvPicPr>
            <a:picLocks/>
          </p:cNvPicPr>
          <p:nvPr/>
        </p:nvPicPr>
        <p:blipFill>
          <a:blip r:embed="rId2"/>
          <a:srcRect t="13468" b="5221"/>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77562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A673-D776-2C2C-8870-95267817D7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80249F-5FF2-69B0-BC83-8D2753FEADEF}"/>
              </a:ext>
            </a:extLst>
          </p:cNvPr>
          <p:cNvSpPr txBox="1"/>
          <p:nvPr/>
        </p:nvSpPr>
        <p:spPr>
          <a:xfrm>
            <a:off x="1666567" y="643029"/>
            <a:ext cx="7639912"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Student Complaints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EF11A6-C094-9260-F57C-1DB8FD1F45DB}"/>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EA9DF978-48F4-8BE5-C299-F5939C8C6D12}"/>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88AE351C-0BBF-4F5B-9FD4-8B70E041C457}"/>
              </a:ext>
            </a:extLst>
          </p:cNvPr>
          <p:cNvPicPr>
            <a:picLocks/>
          </p:cNvPicPr>
          <p:nvPr/>
        </p:nvPicPr>
        <p:blipFill>
          <a:blip r:embed="rId2"/>
          <a:srcRect t="13754" b="5221"/>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627885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5B397-3F2F-F147-27C6-BD2D8FD710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BAF24F-B5A0-C065-4C21-5E741989E27A}"/>
              </a:ext>
            </a:extLst>
          </p:cNvPr>
          <p:cNvSpPr txBox="1"/>
          <p:nvPr/>
        </p:nvSpPr>
        <p:spPr>
          <a:xfrm>
            <a:off x="1666567" y="643029"/>
            <a:ext cx="592149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Login</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81C1A58-6B9E-55A9-E21B-84CE6599D14B}"/>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48B84E87-9B82-C777-46A5-7B23191CE5AB}"/>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3" name="Picture 2">
            <a:extLst>
              <a:ext uri="{FF2B5EF4-FFF2-40B4-BE49-F238E27FC236}">
                <a16:creationId xmlns:a16="http://schemas.microsoft.com/office/drawing/2014/main" id="{268118A0-ED87-6BFD-7591-30CAD0CE5E76}"/>
              </a:ext>
            </a:extLst>
          </p:cNvPr>
          <p:cNvPicPr>
            <a:picLocks/>
          </p:cNvPicPr>
          <p:nvPr/>
        </p:nvPicPr>
        <p:blipFill>
          <a:blip r:embed="rId2"/>
          <a:srcRect t="13767" b="5496"/>
          <a:stretch>
            <a:fillRect/>
          </a:stretch>
        </p:blipFill>
        <p:spPr>
          <a:xfrm>
            <a:off x="1439999" y="1440000"/>
            <a:ext cx="9360000" cy="4680000"/>
          </a:xfrm>
          <a:prstGeom prst="rect">
            <a:avLst/>
          </a:prstGeom>
        </p:spPr>
      </p:pic>
    </p:spTree>
    <p:extLst>
      <p:ext uri="{BB962C8B-B14F-4D97-AF65-F5344CB8AC3E}">
        <p14:creationId xmlns:p14="http://schemas.microsoft.com/office/powerpoint/2010/main" val="1502959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89EA2-7295-8699-41C7-0FD19B1DF2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395444-10E9-6C39-AEC7-FF4CB106047E}"/>
              </a:ext>
            </a:extLst>
          </p:cNvPr>
          <p:cNvSpPr txBox="1"/>
          <p:nvPr/>
        </p:nvSpPr>
        <p:spPr>
          <a:xfrm>
            <a:off x="1666567" y="643029"/>
            <a:ext cx="6947415"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Dashboard</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A103048-9833-7230-2CA6-3BF29F29F0ED}"/>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7A99937E-5FFB-82CC-C982-D438BD9B3997}"/>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26CBB6A6-8969-D76D-C9C6-5FA2CC694E16}"/>
              </a:ext>
            </a:extLst>
          </p:cNvPr>
          <p:cNvPicPr>
            <a:picLocks/>
          </p:cNvPicPr>
          <p:nvPr/>
        </p:nvPicPr>
        <p:blipFill>
          <a:blip r:embed="rId2"/>
          <a:srcRect t="13468" b="5364"/>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2586335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487EC-3D2E-69D6-CE7D-CE6B0F70F0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B065C3-ED9B-8CEF-6322-F4CA8C97BACE}"/>
              </a:ext>
            </a:extLst>
          </p:cNvPr>
          <p:cNvSpPr txBox="1"/>
          <p:nvPr/>
        </p:nvSpPr>
        <p:spPr>
          <a:xfrm>
            <a:off x="1666567" y="643029"/>
            <a:ext cx="775148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Coordinator Process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FF8BD32-689E-5358-A1A2-7EE6800BE9D6}"/>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E1361BA3-C0F3-6C65-97B7-3CCC217C95D0}"/>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14FDFD4D-54EA-D3D0-E89F-6B9308FE23C9}"/>
              </a:ext>
            </a:extLst>
          </p:cNvPr>
          <p:cNvPicPr>
            <a:picLocks/>
          </p:cNvPicPr>
          <p:nvPr/>
        </p:nvPicPr>
        <p:blipFill>
          <a:blip r:embed="rId2"/>
          <a:srcRect t="14041" b="550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272036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09CA6-434A-3E07-F11B-F0E029910A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80259A-B085-ACBB-A6E6-1F93E102D75A}"/>
              </a:ext>
            </a:extLst>
          </p:cNvPr>
          <p:cNvSpPr txBox="1"/>
          <p:nvPr/>
        </p:nvSpPr>
        <p:spPr>
          <a:xfrm>
            <a:off x="1666567" y="643029"/>
            <a:ext cx="775981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Coordinator History</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C34830-E230-983A-43FC-E625D55D12DA}"/>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E7CC7AB8-4A3D-7412-BE6A-3624B2199E29}"/>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770664CE-E005-208A-97AD-1E1AD68AB068}"/>
              </a:ext>
            </a:extLst>
          </p:cNvPr>
          <p:cNvPicPr>
            <a:picLocks/>
          </p:cNvPicPr>
          <p:nvPr/>
        </p:nvPicPr>
        <p:blipFill>
          <a:blip r:embed="rId2"/>
          <a:srcRect t="13468" b="5795"/>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124338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0105-C9EB-3900-E4A9-6C4E54E98C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DE3FF4-6AB5-0E83-68F0-8471075460CF}"/>
              </a:ext>
            </a:extLst>
          </p:cNvPr>
          <p:cNvSpPr txBox="1"/>
          <p:nvPr/>
        </p:nvSpPr>
        <p:spPr>
          <a:xfrm>
            <a:off x="1666567" y="643029"/>
            <a:ext cx="8665834"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List of Complaints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85D1F35-20EB-FF9F-77EC-912F178DAF2C}"/>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58B90C1A-11A5-03A7-5BFB-E4C9A7EDE2FC}"/>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575A12FD-F948-2933-6136-5F57E1351577}"/>
              </a:ext>
            </a:extLst>
          </p:cNvPr>
          <p:cNvPicPr>
            <a:picLocks/>
          </p:cNvPicPr>
          <p:nvPr/>
        </p:nvPicPr>
        <p:blipFill>
          <a:blip r:embed="rId2"/>
          <a:srcRect t="13324" b="507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441572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90F2-B37B-E5A8-DE3A-223BDB2E87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3B5977-3A2E-AD17-BB0C-1D2F0213F476}"/>
              </a:ext>
            </a:extLst>
          </p:cNvPr>
          <p:cNvSpPr txBox="1"/>
          <p:nvPr/>
        </p:nvSpPr>
        <p:spPr>
          <a:xfrm>
            <a:off x="1666567" y="643029"/>
            <a:ext cx="705000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Staff Complaints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608D616-7EED-6E24-A001-7AB18BEA8A43}"/>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6737439B-5479-0D48-517F-F81640AE8996}"/>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7293633D-EA12-E9F4-DDDC-420FBFCD14CE}"/>
              </a:ext>
            </a:extLst>
          </p:cNvPr>
          <p:cNvPicPr>
            <a:picLocks/>
          </p:cNvPicPr>
          <p:nvPr/>
        </p:nvPicPr>
        <p:blipFill>
          <a:blip r:embed="rId2"/>
          <a:srcRect t="13324" b="5221"/>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2260613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ED724-080D-B6E7-F8A8-F88DD17E04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F199FF-F4AF-7F82-0D6D-124B6AA8B477}"/>
              </a:ext>
            </a:extLst>
          </p:cNvPr>
          <p:cNvSpPr txBox="1"/>
          <p:nvPr/>
        </p:nvSpPr>
        <p:spPr>
          <a:xfrm>
            <a:off x="1666567" y="643029"/>
            <a:ext cx="513922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Update</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FD37A5-FA54-3ED2-E757-3C722B2A224B}"/>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2760F846-0E63-C717-6A98-4A5F479B02F7}"/>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E7574668-E176-8600-48AD-24AD8A8AFA61}"/>
              </a:ext>
            </a:extLst>
          </p:cNvPr>
          <p:cNvPicPr>
            <a:picLocks/>
          </p:cNvPicPr>
          <p:nvPr/>
        </p:nvPicPr>
        <p:blipFill>
          <a:blip r:embed="rId2"/>
          <a:srcRect t="13181" b="5365"/>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395637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FCE7B-07FE-BABC-9B98-30017B30D9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F9D1CF-B2DC-17A7-0B23-51DAE6BFB567}"/>
              </a:ext>
            </a:extLst>
          </p:cNvPr>
          <p:cNvSpPr txBox="1"/>
          <p:nvPr/>
        </p:nvSpPr>
        <p:spPr>
          <a:xfrm>
            <a:off x="1666567" y="643029"/>
            <a:ext cx="7050007"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HOD Dashboard</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C87C22E-E678-F40A-E2E4-BC6ADF87A5E3}"/>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34AA72B1-5BF6-AC3F-C284-6431FEA18B63}"/>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57A41F5C-E808-340A-D647-E579AD8DCEEB}"/>
              </a:ext>
            </a:extLst>
          </p:cNvPr>
          <p:cNvPicPr>
            <a:picLocks/>
          </p:cNvPicPr>
          <p:nvPr/>
        </p:nvPicPr>
        <p:blipFill>
          <a:blip r:embed="rId2"/>
          <a:srcRect t="13610" b="5365"/>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019257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9211-B272-0FAE-B2DF-769A07E54A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4E1B7A-1ACB-A502-825E-890ED8F71605}"/>
              </a:ext>
            </a:extLst>
          </p:cNvPr>
          <p:cNvSpPr txBox="1"/>
          <p:nvPr/>
        </p:nvSpPr>
        <p:spPr>
          <a:xfrm>
            <a:off x="1666567" y="643029"/>
            <a:ext cx="5818901"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HOD Page</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EE8C1DE-1C54-EA11-C066-AEC1F61CC35E}"/>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69D641E4-331F-9CA0-BDB3-1F80B8A50873}"/>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6" name="Picture 5">
            <a:extLst>
              <a:ext uri="{FF2B5EF4-FFF2-40B4-BE49-F238E27FC236}">
                <a16:creationId xmlns:a16="http://schemas.microsoft.com/office/drawing/2014/main" id="{F17C4E7E-61EA-B0A3-4281-59F3C07270CB}"/>
              </a:ext>
            </a:extLst>
          </p:cNvPr>
          <p:cNvPicPr>
            <a:picLocks/>
          </p:cNvPicPr>
          <p:nvPr/>
        </p:nvPicPr>
        <p:blipFill>
          <a:blip r:embed="rId2"/>
          <a:srcRect t="13610" b="5222"/>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1771675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C8A4-BE5F-2A13-5D4F-8BDAE6D8B0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97E75E-65B5-5DB3-613E-716080D3B473}"/>
              </a:ext>
            </a:extLst>
          </p:cNvPr>
          <p:cNvSpPr txBox="1"/>
          <p:nvPr/>
        </p:nvSpPr>
        <p:spPr>
          <a:xfrm>
            <a:off x="1666567" y="643029"/>
            <a:ext cx="5190523" cy="646331"/>
          </a:xfrm>
          <a:prstGeom prst="rect">
            <a:avLst/>
          </a:prstGeom>
          <a:noFill/>
        </p:spPr>
        <p:txBody>
          <a:bodyPr wrap="none">
            <a:spAutoFit/>
          </a:bodyPr>
          <a:lstStyle/>
          <a:p>
            <a:pPr>
              <a:defRPr sz="3600" b="1">
                <a:solidFill>
                  <a:srgbClr val="00467A"/>
                </a:solidFill>
              </a:defRPr>
            </a:pPr>
            <a:r>
              <a:rPr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 Reports</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7DFEF42-07E0-F22D-FFE3-AA693F6701CC}"/>
              </a:ext>
            </a:extLst>
          </p:cNvPr>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a:extLst>
              <a:ext uri="{FF2B5EF4-FFF2-40B4-BE49-F238E27FC236}">
                <a16:creationId xmlns:a16="http://schemas.microsoft.com/office/drawing/2014/main" id="{F5EC93D2-6355-29FE-21AE-2FC601DC47E3}"/>
              </a:ext>
            </a:extLst>
          </p:cNvPr>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pic>
        <p:nvPicPr>
          <p:cNvPr id="7" name="Picture 6">
            <a:extLst>
              <a:ext uri="{FF2B5EF4-FFF2-40B4-BE49-F238E27FC236}">
                <a16:creationId xmlns:a16="http://schemas.microsoft.com/office/drawing/2014/main" id="{5B738380-123A-B896-600A-BF6B48B1B73B}"/>
              </a:ext>
            </a:extLst>
          </p:cNvPr>
          <p:cNvPicPr>
            <a:picLocks/>
          </p:cNvPicPr>
          <p:nvPr/>
        </p:nvPicPr>
        <p:blipFill>
          <a:blip r:embed="rId2"/>
          <a:srcRect t="13468" b="5078"/>
          <a:stretch>
            <a:fillRect/>
          </a:stretch>
        </p:blipFill>
        <p:spPr>
          <a:xfrm>
            <a:off x="1440000" y="1440000"/>
            <a:ext cx="9360000" cy="4680000"/>
          </a:xfrm>
          <a:prstGeom prst="rect">
            <a:avLst/>
          </a:prstGeom>
        </p:spPr>
      </p:pic>
    </p:spTree>
    <p:extLst>
      <p:ext uri="{BB962C8B-B14F-4D97-AF65-F5344CB8AC3E}">
        <p14:creationId xmlns:p14="http://schemas.microsoft.com/office/powerpoint/2010/main" val="808913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6566" y="652864"/>
            <a:ext cx="2330766" cy="646331"/>
          </a:xfrm>
          <a:prstGeom prst="rect">
            <a:avLst/>
          </a:prstGeom>
          <a:noFill/>
        </p:spPr>
        <p:txBody>
          <a:bodyPr wrap="none">
            <a:spAutoFit/>
          </a:bodyPr>
          <a:lstStyle/>
          <a:p>
            <a:pPr>
              <a:defRPr sz="3600" b="1">
                <a:solidFill>
                  <a:srgbClr val="00467A"/>
                </a:solidFill>
              </a:defRPr>
            </a:pPr>
            <a:r>
              <a:rPr lang="en-I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440000" y="2019564"/>
            <a:ext cx="4136902" cy="2677656"/>
          </a:xfrm>
          <a:prstGeom prst="rect">
            <a:avLst/>
          </a:prstGeom>
          <a:noFill/>
        </p:spPr>
        <p:txBody>
          <a:bodyPr wrap="none">
            <a:spAutoFit/>
          </a:bodyPr>
          <a:lstStyle/>
          <a:p>
            <a:pPr lvl="0"/>
            <a:r>
              <a:rPr lang="en-US" sz="2400" b="1" u="sng" dirty="0">
                <a:solidFill>
                  <a:srgbClr val="0070C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https://www.w3schools.com/</a:t>
            </a:r>
            <a:endParaRPr lang="en-IN" sz="2400" dirty="0">
              <a:solidFill>
                <a:srgbClr val="0070C0"/>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 </a:t>
            </a:r>
            <a:endParaRPr lang="en-IN" sz="2400" dirty="0">
              <a:solidFill>
                <a:srgbClr val="0070C0"/>
              </a:solidFill>
              <a:latin typeface="Times New Roman" panose="02020603050405020304" pitchFamily="18" charset="0"/>
              <a:cs typeface="Times New Roman" panose="02020603050405020304" pitchFamily="18" charset="0"/>
            </a:endParaRPr>
          </a:p>
          <a:p>
            <a:pPr lvl="0"/>
            <a:r>
              <a:rPr lang="en-IN" sz="2400" b="1" u="sng" dirty="0">
                <a:solidFill>
                  <a:srgbClr val="0070C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https://nodejs.org/en/docs</a:t>
            </a:r>
            <a:endParaRPr lang="en-IN" sz="2400" dirty="0">
              <a:solidFill>
                <a:srgbClr val="0070C0"/>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 </a:t>
            </a:r>
            <a:endParaRPr lang="en-IN" sz="2400" dirty="0">
              <a:solidFill>
                <a:srgbClr val="0070C0"/>
              </a:solidFill>
              <a:latin typeface="Times New Roman" panose="02020603050405020304" pitchFamily="18" charset="0"/>
              <a:cs typeface="Times New Roman" panose="02020603050405020304" pitchFamily="18" charset="0"/>
            </a:endParaRPr>
          </a:p>
          <a:p>
            <a:pPr lvl="0"/>
            <a:r>
              <a:rPr lang="en-IN" sz="2400" b="1" u="sng" dirty="0">
                <a:solidFill>
                  <a:srgbClr val="0070C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https://expressjs.com/en/guide</a:t>
            </a:r>
            <a:endParaRPr lang="en-IN" sz="2400" dirty="0">
              <a:solidFill>
                <a:srgbClr val="0070C0"/>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 </a:t>
            </a:r>
            <a:endParaRPr lang="en-IN" sz="2400" dirty="0">
              <a:solidFill>
                <a:srgbClr val="0070C0"/>
              </a:solidFill>
              <a:latin typeface="Times New Roman" panose="02020603050405020304" pitchFamily="18" charset="0"/>
              <a:cs typeface="Times New Roman" panose="02020603050405020304" pitchFamily="18" charset="0"/>
            </a:endParaRPr>
          </a:p>
          <a:p>
            <a:pPr lvl="0"/>
            <a:r>
              <a:rPr lang="en-IN" sz="2400" b="1" u="sng" dirty="0">
                <a:solidFill>
                  <a:srgbClr val="0070C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https://react.dev/learn</a:t>
            </a:r>
            <a:endParaRPr lang="en-IN" sz="2400" dirty="0">
              <a:solidFill>
                <a:srgbClr val="0070C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101272"/>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19192"/>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0061" y="2459504"/>
            <a:ext cx="7441396" cy="1938992"/>
          </a:xfrm>
          <a:prstGeom prst="rect">
            <a:avLst/>
          </a:prstGeom>
          <a:noFill/>
        </p:spPr>
        <p:txBody>
          <a:bodyPr wrap="none">
            <a:spAutoFit/>
          </a:bodyPr>
          <a:lstStyle/>
          <a:p>
            <a:pPr>
              <a:defRPr sz="3600" b="1">
                <a:solidFill>
                  <a:srgbClr val="00467A"/>
                </a:solidFill>
              </a:defRPr>
            </a:pPr>
            <a:r>
              <a:rPr lang="en-IN" sz="12000" dirty="0">
                <a:latin typeface="Times New Roman" panose="02020603050405020304" pitchFamily="18" charset="0"/>
                <a:cs typeface="Times New Roman" panose="02020603050405020304" pitchFamily="18" charset="0"/>
              </a:rPr>
              <a:t>Thank You</a:t>
            </a:r>
            <a:endParaRPr sz="12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36157" y="91440"/>
            <a:ext cx="3889206" cy="307777"/>
          </a:xfrm>
          <a:prstGeom prst="rect">
            <a:avLst/>
          </a:prstGeom>
          <a:noFill/>
        </p:spPr>
        <p:txBody>
          <a:bodyPr wrap="none">
            <a:spAutoFit/>
          </a:bodyPr>
          <a:lstStyle/>
          <a:p>
            <a:pPr algn="ctr">
              <a:defRPr sz="1400" b="1"/>
            </a:pPr>
            <a:r>
              <a:rPr>
                <a:latin typeface="Times New Roman" panose="02020603050405020304" pitchFamily="18" charset="0"/>
                <a:cs typeface="Times New Roman" panose="02020603050405020304" pitchFamily="18" charset="0"/>
              </a:rPr>
              <a:t>College Complaint &amp; Issue Management System</a:t>
            </a:r>
          </a:p>
        </p:txBody>
      </p:sp>
      <p:sp>
        <p:nvSpPr>
          <p:cNvPr id="5" name="TextBox 4"/>
          <p:cNvSpPr txBox="1"/>
          <p:nvPr/>
        </p:nvSpPr>
        <p:spPr>
          <a:xfrm>
            <a:off x="4190883" y="6309360"/>
            <a:ext cx="3779753" cy="276999"/>
          </a:xfrm>
          <a:prstGeom prst="rect">
            <a:avLst/>
          </a:prstGeom>
          <a:noFill/>
        </p:spPr>
        <p:txBody>
          <a:bodyPr wrap="none">
            <a:spAutoFit/>
          </a:bodyPr>
          <a:lstStyle/>
          <a:p>
            <a:pPr algn="ctr">
              <a:defRPr sz="1200"/>
            </a:pPr>
            <a:r>
              <a:rPr>
                <a:latin typeface="Times New Roman" panose="02020603050405020304" pitchFamily="18" charset="0"/>
                <a:cs typeface="Times New Roman" panose="02020603050405020304" pitchFamily="18" charset="0"/>
              </a:rPr>
              <a:t>The Maharaja Sayajirao University of Baroda | April 2026</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151</TotalTime>
  <Words>1119</Words>
  <Application>Microsoft Office PowerPoint</Application>
  <PresentationFormat>Custom</PresentationFormat>
  <Paragraphs>170</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Century Gothic</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ADMIN</cp:lastModifiedBy>
  <cp:revision>17</cp:revision>
  <dcterms:created xsi:type="dcterms:W3CDTF">2013-01-27T09:14:16Z</dcterms:created>
  <dcterms:modified xsi:type="dcterms:W3CDTF">2026-04-29T04:44:46Z</dcterms:modified>
  <cp:category/>
</cp:coreProperties>
</file>